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BEE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5" autoAdjust="0"/>
    <p:restoredTop sz="94660"/>
  </p:normalViewPr>
  <p:slideViewPr>
    <p:cSldViewPr snapToGrid="0" showGuides="1">
      <p:cViewPr varScale="1">
        <p:scale>
          <a:sx n="68" d="100"/>
          <a:sy n="68" d="100"/>
        </p:scale>
        <p:origin x="678" y="66"/>
      </p:cViewPr>
      <p:guideLst>
        <p:guide orient="horz" pos="31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749ED0-2E0C-40AB-94D1-30F61C685D7B}"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1338465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49ED0-2E0C-40AB-94D1-30F61C685D7B}"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1169168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749ED0-2E0C-40AB-94D1-30F61C685D7B}"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35922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749ED0-2E0C-40AB-94D1-30F61C685D7B}" type="datetimeFigureOut">
              <a:rPr lang="en-GB" smtClean="0"/>
              <a:t>04/11/2024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2141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49ED0-2E0C-40AB-94D1-30F61C685D7B}" type="datetimeFigureOut">
              <a:rPr lang="en-GB" smtClean="0"/>
              <a:t>04/11/2024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3895159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749ED0-2E0C-40AB-94D1-30F61C685D7B}" type="datetimeFigureOut">
              <a:rPr lang="en-GB" smtClean="0"/>
              <a:t>04/11/2024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640140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749ED0-2E0C-40AB-94D1-30F61C685D7B}" type="datetimeFigureOut">
              <a:rPr lang="en-GB" smtClean="0"/>
              <a:t>04/11/2024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1837345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0749ED0-2E0C-40AB-94D1-30F61C685D7B}" type="datetimeFigureOut">
              <a:rPr lang="en-GB" smtClean="0"/>
              <a:t>04/11/2024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1550046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0749ED0-2E0C-40AB-94D1-30F61C685D7B}" type="datetimeFigureOut">
              <a:rPr lang="en-GB" smtClean="0"/>
              <a:t>04/11/2024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2796484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49ED0-2E0C-40AB-94D1-30F61C685D7B}"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3716346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49ED0-2E0C-40AB-94D1-30F61C685D7B}"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07F82F2-5B68-4913-8596-71AE5283A192}" type="slidenum">
              <a:rPr lang="en-GB" smtClean="0"/>
              <a:t>‹#›</a:t>
            </a:fld>
            <a:endParaRPr lang="en-GB"/>
          </a:p>
        </p:txBody>
      </p:sp>
    </p:spTree>
    <p:extLst>
      <p:ext uri="{BB962C8B-B14F-4D97-AF65-F5344CB8AC3E}">
        <p14:creationId xmlns:p14="http://schemas.microsoft.com/office/powerpoint/2010/main" val="373010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F0749ED0-2E0C-40AB-94D1-30F61C685D7B}" type="datetimeFigureOut">
              <a:rPr lang="en-GB" smtClean="0"/>
              <a:t>04/11/2024</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F07F82F2-5B68-4913-8596-71AE5283A192}" type="slidenum">
              <a:rPr lang="en-GB" smtClean="0"/>
              <a:t>‹#›</a:t>
            </a:fld>
            <a:endParaRPr lang="en-GB"/>
          </a:p>
        </p:txBody>
      </p:sp>
    </p:spTree>
    <p:extLst>
      <p:ext uri="{BB962C8B-B14F-4D97-AF65-F5344CB8AC3E}">
        <p14:creationId xmlns:p14="http://schemas.microsoft.com/office/powerpoint/2010/main" val="30088828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pixabay.com/en/thinker-thinking-person-idea-28741/"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ubble Captures the Start of a New Spoke Season at Saturn - NASA Science">
            <a:extLst>
              <a:ext uri="{FF2B5EF4-FFF2-40B4-BE49-F238E27FC236}">
                <a16:creationId xmlns:a16="http://schemas.microsoft.com/office/drawing/2014/main" id="{2869FFDF-1D9C-70EB-EF32-BE97401663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0546" y="1440168"/>
            <a:ext cx="3436908" cy="163889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91B1309-0C86-3CA4-D7B4-280C344F51C0}"/>
              </a:ext>
            </a:extLst>
          </p:cNvPr>
          <p:cNvSpPr txBox="1"/>
          <p:nvPr/>
        </p:nvSpPr>
        <p:spPr>
          <a:xfrm>
            <a:off x="1132449" y="510571"/>
            <a:ext cx="6168683" cy="369332"/>
          </a:xfrm>
          <a:prstGeom prst="rect">
            <a:avLst/>
          </a:prstGeom>
          <a:noFill/>
        </p:spPr>
        <p:txBody>
          <a:bodyPr wrap="square" rtlCol="0">
            <a:spAutoFit/>
          </a:bodyPr>
          <a:lstStyle/>
          <a:p>
            <a:r>
              <a:rPr lang="en-GB" u="sng" dirty="0">
                <a:solidFill>
                  <a:schemeClr val="accent1"/>
                </a:solidFill>
              </a:rPr>
              <a:t>Ewell Astronomical Society – Nonsuch Park Planets Walk</a:t>
            </a:r>
          </a:p>
        </p:txBody>
      </p:sp>
      <p:sp>
        <p:nvSpPr>
          <p:cNvPr id="5" name="TextBox 4">
            <a:extLst>
              <a:ext uri="{FF2B5EF4-FFF2-40B4-BE49-F238E27FC236}">
                <a16:creationId xmlns:a16="http://schemas.microsoft.com/office/drawing/2014/main" id="{8DE9A883-95C6-9D62-DC01-D68314ADAC6A}"/>
              </a:ext>
            </a:extLst>
          </p:cNvPr>
          <p:cNvSpPr txBox="1"/>
          <p:nvPr/>
        </p:nvSpPr>
        <p:spPr>
          <a:xfrm>
            <a:off x="2771336" y="962417"/>
            <a:ext cx="3348111" cy="461665"/>
          </a:xfrm>
          <a:prstGeom prst="rect">
            <a:avLst/>
          </a:prstGeom>
          <a:noFill/>
        </p:spPr>
        <p:txBody>
          <a:bodyPr wrap="square" rtlCol="0">
            <a:spAutoFit/>
          </a:bodyPr>
          <a:lstStyle/>
          <a:p>
            <a:r>
              <a:rPr lang="en-GB" sz="2400" b="1" dirty="0"/>
              <a:t>8. Saturn</a:t>
            </a:r>
          </a:p>
        </p:txBody>
      </p:sp>
      <p:sp>
        <p:nvSpPr>
          <p:cNvPr id="6" name="Arrow: Right 5">
            <a:extLst>
              <a:ext uri="{FF2B5EF4-FFF2-40B4-BE49-F238E27FC236}">
                <a16:creationId xmlns:a16="http://schemas.microsoft.com/office/drawing/2014/main" id="{68657D54-8FD1-C7AD-769A-C8D2584EFDB9}"/>
              </a:ext>
            </a:extLst>
          </p:cNvPr>
          <p:cNvSpPr/>
          <p:nvPr/>
        </p:nvSpPr>
        <p:spPr>
          <a:xfrm>
            <a:off x="5207326" y="1745650"/>
            <a:ext cx="1561513" cy="805374"/>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u="sng" dirty="0" err="1">
                <a:solidFill>
                  <a:schemeClr val="accent1"/>
                </a:solidFill>
              </a:rPr>
              <a:t>Uranus</a:t>
            </a:r>
            <a:r>
              <a:rPr lang="en-GB" dirty="0" err="1"/>
              <a:t>s</a:t>
            </a:r>
            <a:endParaRPr lang="en-GB" dirty="0"/>
          </a:p>
        </p:txBody>
      </p:sp>
      <p:sp>
        <p:nvSpPr>
          <p:cNvPr id="7" name="Arrow: Right 6">
            <a:extLst>
              <a:ext uri="{FF2B5EF4-FFF2-40B4-BE49-F238E27FC236}">
                <a16:creationId xmlns:a16="http://schemas.microsoft.com/office/drawing/2014/main" id="{2955DC12-9DD3-B6B2-2E11-ABAB478E8939}"/>
              </a:ext>
            </a:extLst>
          </p:cNvPr>
          <p:cNvSpPr/>
          <p:nvPr/>
        </p:nvSpPr>
        <p:spPr>
          <a:xfrm flipH="1">
            <a:off x="0" y="1745650"/>
            <a:ext cx="1561513" cy="805374"/>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u="sng" dirty="0">
                <a:solidFill>
                  <a:schemeClr val="accent1"/>
                </a:solidFill>
              </a:rPr>
              <a:t>Jupiter</a:t>
            </a:r>
            <a:endParaRPr lang="en-GB" dirty="0"/>
          </a:p>
        </p:txBody>
      </p:sp>
      <p:sp>
        <p:nvSpPr>
          <p:cNvPr id="8" name="TextBox 7">
            <a:extLst>
              <a:ext uri="{FF2B5EF4-FFF2-40B4-BE49-F238E27FC236}">
                <a16:creationId xmlns:a16="http://schemas.microsoft.com/office/drawing/2014/main" id="{2EAABC3A-F081-132C-8237-27206787A579}"/>
              </a:ext>
            </a:extLst>
          </p:cNvPr>
          <p:cNvSpPr txBox="1"/>
          <p:nvPr/>
        </p:nvSpPr>
        <p:spPr>
          <a:xfrm>
            <a:off x="337625" y="3455690"/>
            <a:ext cx="5908430" cy="1846659"/>
          </a:xfrm>
          <a:prstGeom prst="rect">
            <a:avLst/>
          </a:prstGeom>
          <a:solidFill>
            <a:schemeClr val="accent4">
              <a:lumMod val="20000"/>
              <a:lumOff val="80000"/>
            </a:schemeClr>
          </a:solidFill>
          <a:ln>
            <a:solidFill>
              <a:schemeClr val="accent1"/>
            </a:solidFill>
          </a:ln>
        </p:spPr>
        <p:txBody>
          <a:bodyPr wrap="square" rtlCol="0">
            <a:spAutoFit/>
          </a:bodyPr>
          <a:lstStyle/>
          <a:p>
            <a:r>
              <a:rPr lang="en-GB" b="1" dirty="0"/>
              <a:t>Basic facts</a:t>
            </a:r>
          </a:p>
          <a:p>
            <a:r>
              <a:rPr lang="en-GB" sz="1600" dirty="0"/>
              <a:t>Mean diameter - 116,000 kms  (18 Earth diameters)</a:t>
            </a:r>
          </a:p>
          <a:p>
            <a:r>
              <a:rPr lang="en-GB" sz="1600" dirty="0"/>
              <a:t>Mass – 95 Earth masses</a:t>
            </a:r>
          </a:p>
          <a:p>
            <a:r>
              <a:rPr lang="en-GB" sz="1600" dirty="0"/>
              <a:t>Distance from the Sun – 1.4 billion km  (10 times the Earth’s distance)</a:t>
            </a:r>
          </a:p>
          <a:p>
            <a:r>
              <a:rPr lang="en-GB" sz="1600" dirty="0"/>
              <a:t>Year – 29 years</a:t>
            </a:r>
          </a:p>
          <a:p>
            <a:r>
              <a:rPr lang="en-GB" sz="1600" dirty="0"/>
              <a:t>Day – 11 hours </a:t>
            </a:r>
          </a:p>
          <a:p>
            <a:r>
              <a:rPr lang="en-GB" sz="1600" dirty="0"/>
              <a:t>Number of moons - 146</a:t>
            </a:r>
          </a:p>
        </p:txBody>
      </p:sp>
      <p:sp>
        <p:nvSpPr>
          <p:cNvPr id="9" name="TextBox 8">
            <a:extLst>
              <a:ext uri="{FF2B5EF4-FFF2-40B4-BE49-F238E27FC236}">
                <a16:creationId xmlns:a16="http://schemas.microsoft.com/office/drawing/2014/main" id="{1262851F-49BC-045E-89F4-F50A82B79346}"/>
              </a:ext>
            </a:extLst>
          </p:cNvPr>
          <p:cNvSpPr txBox="1"/>
          <p:nvPr/>
        </p:nvSpPr>
        <p:spPr>
          <a:xfrm>
            <a:off x="318085" y="8011007"/>
            <a:ext cx="6434928" cy="1569660"/>
          </a:xfrm>
          <a:prstGeom prst="rect">
            <a:avLst/>
          </a:prstGeom>
          <a:noFill/>
        </p:spPr>
        <p:txBody>
          <a:bodyPr wrap="square" rtlCol="0">
            <a:spAutoFit/>
          </a:bodyPr>
          <a:lstStyle/>
          <a:p>
            <a:r>
              <a:rPr lang="en-GB" sz="1600" dirty="0"/>
              <a:t>Saturn is primarily made of hydrogen and helium gas, and as such, does not have a surface.  What we see through our telescopes are the clouds in Saturn’s atmosphere just in the same way as we have clouds here on Earth.  However, Saturn’s clouds are whipped along by winds of up to 1,800 kilometres per hour!  By </a:t>
            </a:r>
            <a:r>
              <a:rPr lang="en-GB" sz="1600" dirty="0" err="1"/>
              <a:t>comparsion</a:t>
            </a:r>
            <a:r>
              <a:rPr lang="en-GB" sz="1600" dirty="0"/>
              <a:t> winds in the most severe cyclones on Earth have been measured up to only 400 – 500 kilometres per hour.</a:t>
            </a:r>
          </a:p>
        </p:txBody>
      </p:sp>
      <p:sp>
        <p:nvSpPr>
          <p:cNvPr id="10" name="TextBox 9">
            <a:extLst>
              <a:ext uri="{FF2B5EF4-FFF2-40B4-BE49-F238E27FC236}">
                <a16:creationId xmlns:a16="http://schemas.microsoft.com/office/drawing/2014/main" id="{849AEAA6-78DD-FF09-120A-43D614199869}"/>
              </a:ext>
            </a:extLst>
          </p:cNvPr>
          <p:cNvSpPr txBox="1"/>
          <p:nvPr/>
        </p:nvSpPr>
        <p:spPr>
          <a:xfrm>
            <a:off x="1952006" y="3087815"/>
            <a:ext cx="3195448" cy="307777"/>
          </a:xfrm>
          <a:prstGeom prst="rect">
            <a:avLst/>
          </a:prstGeom>
          <a:noFill/>
        </p:spPr>
        <p:txBody>
          <a:bodyPr wrap="square" rtlCol="0">
            <a:spAutoFit/>
          </a:bodyPr>
          <a:lstStyle/>
          <a:p>
            <a:r>
              <a:rPr lang="en-GB" sz="1400" dirty="0"/>
              <a:t>The ringed planet Saturn [Image: NASA]</a:t>
            </a:r>
          </a:p>
        </p:txBody>
      </p:sp>
      <p:pic>
        <p:nvPicPr>
          <p:cNvPr id="15" name="Picture 14">
            <a:extLst>
              <a:ext uri="{FF2B5EF4-FFF2-40B4-BE49-F238E27FC236}">
                <a16:creationId xmlns:a16="http://schemas.microsoft.com/office/drawing/2014/main" id="{B46F4405-DFED-2241-7C47-080EFF8D0B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413" y="190507"/>
            <a:ext cx="722190" cy="850248"/>
          </a:xfrm>
          <a:prstGeom prst="rect">
            <a:avLst/>
          </a:prstGeom>
        </p:spPr>
      </p:pic>
      <p:pic>
        <p:nvPicPr>
          <p:cNvPr id="3" name="Picture 2">
            <a:extLst>
              <a:ext uri="{FF2B5EF4-FFF2-40B4-BE49-F238E27FC236}">
                <a16:creationId xmlns:a16="http://schemas.microsoft.com/office/drawing/2014/main" id="{AAB58F41-2F84-F730-0094-ED02E47471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549" y="5450510"/>
            <a:ext cx="2710506" cy="1984223"/>
          </a:xfrm>
          <a:prstGeom prst="rect">
            <a:avLst/>
          </a:prstGeom>
        </p:spPr>
      </p:pic>
      <p:sp>
        <p:nvSpPr>
          <p:cNvPr id="17" name="TextBox 16">
            <a:extLst>
              <a:ext uri="{FF2B5EF4-FFF2-40B4-BE49-F238E27FC236}">
                <a16:creationId xmlns:a16="http://schemas.microsoft.com/office/drawing/2014/main" id="{54D8717F-430E-F767-0F6D-52FF6D463D28}"/>
              </a:ext>
            </a:extLst>
          </p:cNvPr>
          <p:cNvSpPr txBox="1"/>
          <p:nvPr/>
        </p:nvSpPr>
        <p:spPr>
          <a:xfrm>
            <a:off x="3556649" y="7524586"/>
            <a:ext cx="2710506" cy="523220"/>
          </a:xfrm>
          <a:prstGeom prst="rect">
            <a:avLst/>
          </a:prstGeom>
          <a:noFill/>
        </p:spPr>
        <p:txBody>
          <a:bodyPr wrap="square" rtlCol="0">
            <a:spAutoFit/>
          </a:bodyPr>
          <a:lstStyle/>
          <a:p>
            <a:pPr algn="ctr"/>
            <a:r>
              <a:rPr lang="en-GB" sz="1400" dirty="0"/>
              <a:t>The Earth’s relative size </a:t>
            </a:r>
            <a:br>
              <a:rPr lang="en-GB" sz="1400" dirty="0"/>
            </a:br>
            <a:r>
              <a:rPr lang="en-GB" sz="1400" dirty="0"/>
              <a:t>compared to Saturn [Image: NASA]</a:t>
            </a:r>
          </a:p>
        </p:txBody>
      </p:sp>
      <p:sp>
        <p:nvSpPr>
          <p:cNvPr id="19" name="TextBox 18">
            <a:extLst>
              <a:ext uri="{FF2B5EF4-FFF2-40B4-BE49-F238E27FC236}">
                <a16:creationId xmlns:a16="http://schemas.microsoft.com/office/drawing/2014/main" id="{DA1AAA03-2EC4-520B-A307-8E6697E4398C}"/>
              </a:ext>
            </a:extLst>
          </p:cNvPr>
          <p:cNvSpPr txBox="1"/>
          <p:nvPr/>
        </p:nvSpPr>
        <p:spPr>
          <a:xfrm>
            <a:off x="276616" y="5489450"/>
            <a:ext cx="3258933" cy="2308324"/>
          </a:xfrm>
          <a:prstGeom prst="rect">
            <a:avLst/>
          </a:prstGeom>
          <a:noFill/>
        </p:spPr>
        <p:txBody>
          <a:bodyPr wrap="square">
            <a:spAutoFit/>
          </a:bodyPr>
          <a:lstStyle/>
          <a:p>
            <a:r>
              <a:rPr lang="en-GB" sz="1600" dirty="0"/>
              <a:t>Saturn is the sixth planet from the Sun, and many would argue, the most beautiful. Saturn’s rings were first observed over 400 years ago soon after the invention of the telescope. Although the other giant planets also have ring systems, they are not easily seen and were all discovered within the last 50 years. </a:t>
            </a:r>
          </a:p>
        </p:txBody>
      </p:sp>
      <p:sp>
        <p:nvSpPr>
          <p:cNvPr id="20" name="TextBox 19">
            <a:extLst>
              <a:ext uri="{FF2B5EF4-FFF2-40B4-BE49-F238E27FC236}">
                <a16:creationId xmlns:a16="http://schemas.microsoft.com/office/drawing/2014/main" id="{0BC9CB33-12A2-FFAC-5AD8-D94964C7E59C}"/>
              </a:ext>
            </a:extLst>
          </p:cNvPr>
          <p:cNvSpPr txBox="1"/>
          <p:nvPr/>
        </p:nvSpPr>
        <p:spPr>
          <a:xfrm>
            <a:off x="457678" y="2381747"/>
            <a:ext cx="1133771" cy="338554"/>
          </a:xfrm>
          <a:prstGeom prst="rect">
            <a:avLst/>
          </a:prstGeom>
          <a:noFill/>
        </p:spPr>
        <p:txBody>
          <a:bodyPr wrap="square" rtlCol="0">
            <a:spAutoFit/>
          </a:bodyPr>
          <a:lstStyle/>
          <a:p>
            <a:r>
              <a:rPr lang="en-GB" sz="1600" dirty="0"/>
              <a:t>143 metres</a:t>
            </a:r>
          </a:p>
        </p:txBody>
      </p:sp>
      <p:sp>
        <p:nvSpPr>
          <p:cNvPr id="21" name="TextBox 20">
            <a:extLst>
              <a:ext uri="{FF2B5EF4-FFF2-40B4-BE49-F238E27FC236}">
                <a16:creationId xmlns:a16="http://schemas.microsoft.com/office/drawing/2014/main" id="{ECBFB183-67D0-B495-4DC6-CE5E4EF8FD04}"/>
              </a:ext>
            </a:extLst>
          </p:cNvPr>
          <p:cNvSpPr txBox="1"/>
          <p:nvPr/>
        </p:nvSpPr>
        <p:spPr>
          <a:xfrm>
            <a:off x="5207326" y="2393990"/>
            <a:ext cx="1133771" cy="338554"/>
          </a:xfrm>
          <a:prstGeom prst="rect">
            <a:avLst/>
          </a:prstGeom>
          <a:noFill/>
        </p:spPr>
        <p:txBody>
          <a:bodyPr wrap="square" rtlCol="0">
            <a:spAutoFit/>
          </a:bodyPr>
          <a:lstStyle/>
          <a:p>
            <a:r>
              <a:rPr lang="en-GB" sz="1600" dirty="0"/>
              <a:t>323 metres</a:t>
            </a:r>
          </a:p>
        </p:txBody>
      </p:sp>
    </p:spTree>
    <p:extLst>
      <p:ext uri="{BB962C8B-B14F-4D97-AF65-F5344CB8AC3E}">
        <p14:creationId xmlns:p14="http://schemas.microsoft.com/office/powerpoint/2010/main" val="3275200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53016F9-6B0D-37CD-7F89-ADEE16D8A3CC}"/>
              </a:ext>
            </a:extLst>
          </p:cNvPr>
          <p:cNvSpPr txBox="1"/>
          <p:nvPr/>
        </p:nvSpPr>
        <p:spPr>
          <a:xfrm>
            <a:off x="488707" y="1087443"/>
            <a:ext cx="5880586" cy="5909310"/>
          </a:xfrm>
          <a:prstGeom prst="rect">
            <a:avLst/>
          </a:prstGeom>
          <a:noFill/>
        </p:spPr>
        <p:txBody>
          <a:bodyPr wrap="square">
            <a:spAutoFit/>
          </a:bodyPr>
          <a:lstStyle/>
          <a:p>
            <a:r>
              <a:rPr lang="en-GB" sz="1800" dirty="0"/>
              <a:t>Saturn’s rings are composed primarily of ice particles, along with rocky debris and dust, and stretch out for thousands of kilometres from Saturn but are very thin — less than a kilometre in thickness.  It is their icy composition that allows then to easily reflect sunlight and making  them so clearly visible from Earth.  It is believed that Saturn's rings are likely to be remnants of comets, asteroids, or moons that ventured too close to the planet and were torn apart by its strong gravity. </a:t>
            </a:r>
          </a:p>
          <a:p>
            <a:endParaRPr lang="en-GB" dirty="0"/>
          </a:p>
          <a:p>
            <a:r>
              <a:rPr lang="en-GB" sz="1800" dirty="0"/>
              <a:t>Saturn currently over 145 known moons, of which, Titan is the largest.  At over 5,000 kilometres in diameter Titan is larger than the planet Mercury and is only just beaten by Jupiter’s moon Ganymede to the title of the solar system’s largest moon.  Titan is also the most distant object that man has landed a spacecraft on – the European Space Agency’s Huygens probe in 2005.  Titan has a thick atmosphere mostly made of nitrogen, like the Earth.  However, although Titan also has liquid on its surface, it is not liquid water, but liquid methane and ethane.</a:t>
            </a:r>
          </a:p>
          <a:p>
            <a:endParaRPr lang="en-GB" dirty="0"/>
          </a:p>
        </p:txBody>
      </p:sp>
    </p:spTree>
    <p:extLst>
      <p:ext uri="{BB962C8B-B14F-4D97-AF65-F5344CB8AC3E}">
        <p14:creationId xmlns:p14="http://schemas.microsoft.com/office/powerpoint/2010/main" val="2005915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EAE8-E3E9-ED59-DD88-339B0990B6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A2780D6-AAFD-AEE7-0B9C-785BB5B29F1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74873" y="7846831"/>
            <a:ext cx="1042893" cy="1398293"/>
          </a:xfrm>
          <a:prstGeom prst="rect">
            <a:avLst/>
          </a:prstGeom>
        </p:spPr>
      </p:pic>
      <p:sp>
        <p:nvSpPr>
          <p:cNvPr id="4" name="Thought Bubble: Cloud 3">
            <a:extLst>
              <a:ext uri="{FF2B5EF4-FFF2-40B4-BE49-F238E27FC236}">
                <a16:creationId xmlns:a16="http://schemas.microsoft.com/office/drawing/2014/main" id="{3995526E-BF1F-06CE-F81A-61C133B4DB88}"/>
              </a:ext>
            </a:extLst>
          </p:cNvPr>
          <p:cNvSpPr/>
          <p:nvPr/>
        </p:nvSpPr>
        <p:spPr>
          <a:xfrm>
            <a:off x="1510429" y="4953000"/>
            <a:ext cx="3820188" cy="2448947"/>
          </a:xfrm>
          <a:prstGeom prst="cloudCallout">
            <a:avLst>
              <a:gd name="adj1" fmla="val -34156"/>
              <a:gd name="adj2" fmla="val 65947"/>
            </a:avLst>
          </a:prstGeom>
          <a:solidFill>
            <a:srgbClr val="BBEEF3"/>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04CED97B-8688-3C27-808F-99AF3B7B5CE6}"/>
              </a:ext>
            </a:extLst>
          </p:cNvPr>
          <p:cNvSpPr txBox="1"/>
          <p:nvPr/>
        </p:nvSpPr>
        <p:spPr>
          <a:xfrm>
            <a:off x="1962374" y="5248550"/>
            <a:ext cx="3058236" cy="2062103"/>
          </a:xfrm>
          <a:prstGeom prst="rect">
            <a:avLst/>
          </a:prstGeom>
          <a:noFill/>
        </p:spPr>
        <p:txBody>
          <a:bodyPr wrap="square" rtlCol="0">
            <a:spAutoFit/>
          </a:bodyPr>
          <a:lstStyle/>
          <a:p>
            <a:pPr algn="ctr"/>
            <a:r>
              <a:rPr lang="en-GB" sz="1600" i="1" dirty="0"/>
              <a:t>Saturn is largely made of hydrogen and helium – the two lightest elements in the universe. As a result Saturn has about the same density as wood and so, if you had a bathtub big enough, it would actually float!</a:t>
            </a:r>
          </a:p>
          <a:p>
            <a:pPr algn="ctr"/>
            <a:endParaRPr lang="en-GB" sz="1600" i="1" dirty="0"/>
          </a:p>
        </p:txBody>
      </p:sp>
      <p:sp>
        <p:nvSpPr>
          <p:cNvPr id="7" name="TextBox 6">
            <a:extLst>
              <a:ext uri="{FF2B5EF4-FFF2-40B4-BE49-F238E27FC236}">
                <a16:creationId xmlns:a16="http://schemas.microsoft.com/office/drawing/2014/main" id="{9348B67D-5352-2F04-D294-A7CF68B4451B}"/>
              </a:ext>
            </a:extLst>
          </p:cNvPr>
          <p:cNvSpPr txBox="1"/>
          <p:nvPr/>
        </p:nvSpPr>
        <p:spPr>
          <a:xfrm>
            <a:off x="517032" y="5157256"/>
            <a:ext cx="1515682" cy="707886"/>
          </a:xfrm>
          <a:prstGeom prst="rect">
            <a:avLst/>
          </a:prstGeom>
          <a:noFill/>
        </p:spPr>
        <p:txBody>
          <a:bodyPr wrap="square" rtlCol="0">
            <a:spAutoFit/>
          </a:bodyPr>
          <a:lstStyle/>
          <a:p>
            <a:r>
              <a:rPr lang="en-GB" sz="2000" b="1" i="1" dirty="0"/>
              <a:t>Did you know?</a:t>
            </a:r>
          </a:p>
        </p:txBody>
      </p:sp>
      <p:sp>
        <p:nvSpPr>
          <p:cNvPr id="10" name="TextBox 9">
            <a:extLst>
              <a:ext uri="{FF2B5EF4-FFF2-40B4-BE49-F238E27FC236}">
                <a16:creationId xmlns:a16="http://schemas.microsoft.com/office/drawing/2014/main" id="{5314971F-884D-B972-CBF7-FA958FB043A4}"/>
              </a:ext>
            </a:extLst>
          </p:cNvPr>
          <p:cNvSpPr txBox="1"/>
          <p:nvPr/>
        </p:nvSpPr>
        <p:spPr>
          <a:xfrm>
            <a:off x="488674" y="347900"/>
            <a:ext cx="2043511" cy="3139321"/>
          </a:xfrm>
          <a:prstGeom prst="rect">
            <a:avLst/>
          </a:prstGeom>
          <a:noFill/>
        </p:spPr>
        <p:txBody>
          <a:bodyPr wrap="square">
            <a:spAutoFit/>
          </a:bodyPr>
          <a:lstStyle/>
          <a:p>
            <a:r>
              <a:rPr lang="en-GB" sz="1800" dirty="0"/>
              <a:t>Another of Saturn’s interesting moon’s is Enceladus.  Enceladus is very small, at just 500 kilometres in diameter.  The visiting NASA Cassini spacecraft imaged what appears to be</a:t>
            </a:r>
          </a:p>
        </p:txBody>
      </p:sp>
      <p:pic>
        <p:nvPicPr>
          <p:cNvPr id="12" name="Picture 11">
            <a:extLst>
              <a:ext uri="{FF2B5EF4-FFF2-40B4-BE49-F238E27FC236}">
                <a16:creationId xmlns:a16="http://schemas.microsoft.com/office/drawing/2014/main" id="{4D81D35F-5079-4332-B67A-7A5737A4AC6D}"/>
              </a:ext>
            </a:extLst>
          </p:cNvPr>
          <p:cNvPicPr>
            <a:picLocks noChangeAspect="1"/>
          </p:cNvPicPr>
          <p:nvPr/>
        </p:nvPicPr>
        <p:blipFill>
          <a:blip r:embed="rId4"/>
          <a:stretch>
            <a:fillRect/>
          </a:stretch>
        </p:blipFill>
        <p:spPr>
          <a:xfrm>
            <a:off x="2841368" y="406015"/>
            <a:ext cx="3820188" cy="2226453"/>
          </a:xfrm>
          <a:prstGeom prst="rect">
            <a:avLst/>
          </a:prstGeom>
        </p:spPr>
      </p:pic>
      <p:sp>
        <p:nvSpPr>
          <p:cNvPr id="13" name="TextBox 12">
            <a:extLst>
              <a:ext uri="{FF2B5EF4-FFF2-40B4-BE49-F238E27FC236}">
                <a16:creationId xmlns:a16="http://schemas.microsoft.com/office/drawing/2014/main" id="{0064D598-BC96-CBDD-4622-0F41333821DA}"/>
              </a:ext>
            </a:extLst>
          </p:cNvPr>
          <p:cNvSpPr txBox="1"/>
          <p:nvPr/>
        </p:nvSpPr>
        <p:spPr>
          <a:xfrm>
            <a:off x="3181430" y="2752529"/>
            <a:ext cx="3195448" cy="523220"/>
          </a:xfrm>
          <a:prstGeom prst="rect">
            <a:avLst/>
          </a:prstGeom>
          <a:noFill/>
        </p:spPr>
        <p:txBody>
          <a:bodyPr wrap="square" rtlCol="0">
            <a:spAutoFit/>
          </a:bodyPr>
          <a:lstStyle/>
          <a:p>
            <a:r>
              <a:rPr lang="en-GB" sz="1400" dirty="0"/>
              <a:t>Plumes of water escaping from Saturn’s moon Enceladus   [Image: NASA]</a:t>
            </a:r>
          </a:p>
        </p:txBody>
      </p:sp>
      <p:sp>
        <p:nvSpPr>
          <p:cNvPr id="15" name="TextBox 14">
            <a:extLst>
              <a:ext uri="{FF2B5EF4-FFF2-40B4-BE49-F238E27FC236}">
                <a16:creationId xmlns:a16="http://schemas.microsoft.com/office/drawing/2014/main" id="{6D2171BE-7AF9-6E9E-9771-B824891C0794}"/>
              </a:ext>
            </a:extLst>
          </p:cNvPr>
          <p:cNvSpPr txBox="1"/>
          <p:nvPr/>
        </p:nvSpPr>
        <p:spPr>
          <a:xfrm>
            <a:off x="479630" y="3394262"/>
            <a:ext cx="5970697" cy="1200329"/>
          </a:xfrm>
          <a:prstGeom prst="rect">
            <a:avLst/>
          </a:prstGeom>
          <a:noFill/>
        </p:spPr>
        <p:txBody>
          <a:bodyPr wrap="square">
            <a:spAutoFit/>
          </a:bodyPr>
          <a:lstStyle/>
          <a:p>
            <a:r>
              <a:rPr lang="en-GB" sz="1800" dirty="0"/>
              <a:t>plumes of water escaping from fissures </a:t>
            </a:r>
            <a:r>
              <a:rPr lang="en-GB" dirty="0"/>
              <a:t>on its icy surface leading to the theory that Enceladus harbours an ocean of liquid water below its frozen surface and so is one of the prime candidates for the search for life in the solar system.</a:t>
            </a:r>
          </a:p>
        </p:txBody>
      </p:sp>
    </p:spTree>
    <p:extLst>
      <p:ext uri="{BB962C8B-B14F-4D97-AF65-F5344CB8AC3E}">
        <p14:creationId xmlns:p14="http://schemas.microsoft.com/office/powerpoint/2010/main" val="25261846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135</TotalTime>
  <Words>564</Words>
  <Application>Microsoft Office PowerPoint</Application>
  <PresentationFormat>A4 Paper (210x297 mm)</PresentationFormat>
  <Paragraphs>25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Martin Howe</dc:creator>
  <cp:lastModifiedBy>Martin Howe</cp:lastModifiedBy>
  <cp:revision>6</cp:revision>
  <dcterms:created xsi:type="dcterms:W3CDTF">2024-10-15T19:34:38Z</dcterms:created>
  <dcterms:modified xsi:type="dcterms:W3CDTF">2024-11-04T16:22:40Z</dcterms:modified>
</cp:coreProperties>
</file>